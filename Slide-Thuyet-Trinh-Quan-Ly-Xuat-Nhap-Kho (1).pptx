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23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82C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10378440" y="502920"/>
            <a:ext cx="1143000" cy="11430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/home/claude/icons/warehou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615" y="760095"/>
            <a:ext cx="628650" cy="628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TRÌNH BÀI TẬP LỚN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" y="2103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trị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cung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 Thiết kế Web Nâng cao  —  CSE702051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42793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Công nghệ Thông tin  —  Đại học Phenikaa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4892040"/>
            <a:ext cx="10607040" cy="10973"/>
          </a:xfrm>
          <a:prstGeom prst="rect">
            <a:avLst/>
          </a:prstGeom>
          <a:solidFill>
            <a:srgbClr val="27506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77" y="5370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389888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15968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" name="Image 2" descr="/home/claude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53709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74336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974336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Huy Nguyễn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00416" y="5257800"/>
            <a:ext cx="502920" cy="50292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3" descr="/home/claude/icons/reac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573" y="537095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58784" y="5257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558784" y="5513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Huân Vũ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6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100" i="1" dirty="0">
                <a:solidFill>
                  <a:srgbClr val="6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03  ·  Học kỳ II  —  Năm học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một hệ thống quản lý kho?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1796796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thủ công, thiếu nhất quán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9339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sổ tay hoặc Excel rời rạc cho nhập – xuất hàng, dễ sai lệch giữa các bộ phận.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" name="Image 1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291236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7977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kho không cập nhật theo thời gian thực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1089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chính xác số lượng còn lại, dẫn đến nhập thừa hoặc xuất vượt tồn.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22776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2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027932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9534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truy vết &amp; không phân quyền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2245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rõ ai tạo phiếu, mọi người dùng chung một mức truy cập.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038344"/>
            <a:ext cx="420624" cy="420624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3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5143500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01091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tổng hợp mất nhiều thời gian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34009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nhập – xuất – tồn phải tổng hợp thủ công từ nhiều nguồn.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18120" y="1691640"/>
            <a:ext cx="3611880" cy="4434840"/>
          </a:xfrm>
          <a:prstGeom prst="roundRect">
            <a:avLst>
              <a:gd name="adj" fmla="val 2278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1" name="Shape 15"/>
          <p:cNvSpPr/>
          <p:nvPr/>
        </p:nvSpPr>
        <p:spPr>
          <a:xfrm>
            <a:off x="9281160" y="2148840"/>
            <a:ext cx="777240" cy="77724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2" name="Image 4" descr="/home/claude/icons/warehou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698" y="233537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92440" y="3154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092440" y="35661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tập trung hoá toàn bộ nghiệp vụ nhập – xuất – tồn, phân quyền rõ ràng, cập nhật số liệu theo thời gian thực.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DỰ ÁN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mục tiêu trọng tâm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217517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mục tập trung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 &amp; nhà cung cấp trên một hệ thống duy nhất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6611112" y="2039112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tru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75" y="217517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hoá phiếu nhập/xuất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3134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phiếu và tự động cộng/trừ tồn kho tương ứng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896112" y="368503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user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382109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quyền rõ ràng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95935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vai trò Admin và Nhân viên với quyền hạn khác nhau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4290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6611112" y="3685032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175" y="382109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trực quan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395935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và biểu đồ phản ánh tình trạng kho theo thời gian thực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0749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Shape 19"/>
          <p:cNvSpPr/>
          <p:nvPr/>
        </p:nvSpPr>
        <p:spPr>
          <a:xfrm>
            <a:off x="896112" y="5330952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6" name="Image 4" descr="/home/claude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175" y="546701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76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theo chuẩn OWASP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45920" y="56052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SQL Injection, XSS, bảo vệ phiên đăng nhập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công nghệ toàn hệ thống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23031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MVC, PDO + Prepared Statement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477316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231" y="230319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316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InnoDB, khoá ngoại, chỉ mục, Trigger nghiệp vụ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861364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reac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711" y="230319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3648" y="2898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(Vite)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13648" y="3227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Axios, kiến trúc component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93268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51" y="458919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268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thống kê cho trang Dashboard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Shape 19"/>
          <p:cNvSpPr/>
          <p:nvPr/>
        </p:nvSpPr>
        <p:spPr>
          <a:xfrm>
            <a:off x="477316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6" name="Image 4" descr="/home/claude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231" y="458919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316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+ Session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7316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mật khẩu, phiên đăng nhập an toàn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Shape 23"/>
          <p:cNvSpPr/>
          <p:nvPr/>
        </p:nvSpPr>
        <p:spPr>
          <a:xfrm>
            <a:off x="861364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5" descr="/home/claude/icons/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9711" y="4589191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13648" y="5184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InfinityFree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613648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triển khai trực tuyến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3 lớp: Frontend – Backend –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737360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rea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8072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(Vite) — 7 trang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người dùng, gọi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33265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5730545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425" y="28072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4705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0425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· Kiến trúc MVC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nghiệp vụ, xác thực, phân quyền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25535" y="23317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EDF3F6"/>
          </a:solidFill>
          <a:ln w="12700">
            <a:solidFill>
              <a:srgbClr val="CBD9E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9722815" y="262432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695" y="28072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16975" y="3502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62695" y="38679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7 bảng + Trigger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dữ liệu, ràng buộc toàn vẹn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566160" y="3520440"/>
            <a:ext cx="1067105" cy="0"/>
          </a:xfrm>
          <a:prstGeom prst="line">
            <a:avLst/>
          </a:prstGeom>
          <a:noFill/>
          <a:ln w="28575">
            <a:solidFill>
              <a:srgbClr val="1B7A8C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5"/>
          <p:cNvSpPr/>
          <p:nvPr/>
        </p:nvSpPr>
        <p:spPr>
          <a:xfrm>
            <a:off x="3291840" y="3136392"/>
            <a:ext cx="16157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559345" y="3520440"/>
            <a:ext cx="1066190" cy="0"/>
          </a:xfrm>
          <a:prstGeom prst="line">
            <a:avLst/>
          </a:prstGeom>
          <a:noFill/>
          <a:ln w="28575">
            <a:solidFill>
              <a:srgbClr val="1B7A8C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7"/>
          <p:cNvSpPr/>
          <p:nvPr/>
        </p:nvSpPr>
        <p:spPr>
          <a:xfrm>
            <a:off x="7285025" y="3136392"/>
            <a:ext cx="16148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qua REST API dạng JSON  ·  Xác thực bằng PHP Session (Cookie HttpOnly, SameSite)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Text 20"/>
          <p:cNvSpPr/>
          <p:nvPr/>
        </p:nvSpPr>
        <p:spPr>
          <a:xfrm>
            <a:off x="914400" y="56235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thử: toàn bộ luồng Frontend → Backend → Database → Trigger chạy đúng trên môi trường thật, không chỉ lý thuyết.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bảng dữ liệu — đã triển khai &amp; kiểm thử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/home/claude/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8973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46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khoản, vai trò Admin / Nhân viên, mật khẩu bcrypt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" name="Image 1" descr="/home/claude/icons/boxo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9032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san_pham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3035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hàng hoá, đơn giá, tồn kho hiện tại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2" descr="/home/claude/icons/sto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9090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58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nha_cung_cap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40416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nhà cung cấp hàng hoá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3" descr="/home/claude/icons/clipboard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9149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64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phieu_nhap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50474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phiếu nhập kho: người tạo, ngày, NCC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4" descr="/home/claude/icons/clipboard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18973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0" y="1746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chi_tiet_phieu_nhap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85800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mặt hàng trong phiếu nhập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5" descr="/home/claude/icons/tru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940" y="29032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phieu_xuat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30358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phiếu xuất kho: người tạo, ngày, người nhận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263640" y="3794760"/>
            <a:ext cx="457200" cy="45720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/home/claude/icons/clipboard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90906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58000" y="3758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chi_tiet_phieu_xuat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858000" y="40416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từng mặt hàng trong phiếu xuất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263640" y="4846320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E3F0F1"/>
          </a:solidFill>
          <a:ln w="12700">
            <a:solidFill>
              <a:srgbClr val="1B7A8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Shape 24"/>
          <p:cNvSpPr/>
          <p:nvPr/>
        </p:nvSpPr>
        <p:spPr>
          <a:xfrm>
            <a:off x="6492240" y="5065776"/>
            <a:ext cx="475488" cy="47548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4" name="Image 7" descr="/home/claude/icons/checkcirc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5184648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95744" y="49743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Trigger MySQL — đã kiểm thử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7095744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F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cộng/trừ tồn kho + tổng tiền; chặn xuất vượt tồn ngay tại CSDL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40080" y="5943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khoá ngoại liên kết đầy đủ giữa các bảng, chỉ mục trên các trường tra cứu thường xuyên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nhóm chức năng cốt lõi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 &amp; Phân quyền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nhập/đăng xuất bảo mật (bcrypt)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vai trò: Admin và Nhân viên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API đều xác thực trước khi xử lý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6565392" y="201168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danh mục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11112" y="26060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sản phẩm, nhà cung cấp, người dùng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kiếm, lọc, phân trang dữ liệu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dữ liệu CSV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45665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80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Nghiệp vụ Nhập – Xuất kho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029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phiếu nhập/xuất nhiều mặt hàng chỉ 3 bước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cộng – trừ tồn kho (Trigger)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xuất vượt tồn, rollback toàn phiếu nếu lỗi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6565392" y="443484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066" y="45665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4480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&amp; Báo cáo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11112" y="5029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tổng quan tồn kho theo thời gian thực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trực quan (Chart.js)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hàng sắp hết / đã hết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trang giao diện — đã hoàn thiện &amp; kết nối API thật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088136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134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nhập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4944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qua API thật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249424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2697480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23134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04288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04288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+ 2 biểu đồ trực quan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858768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4306824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boxope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31343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Linh Kiện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tìm kiếm, phân trang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68112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5916168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sto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23134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Nhà Cung Cấp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22976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đối tác cung ứng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077456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19"/>
          <p:cNvSpPr/>
          <p:nvPr/>
        </p:nvSpPr>
        <p:spPr>
          <a:xfrm>
            <a:off x="7525512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6" name="Image 4" descr="/home/claude/icons/tru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231343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Mua/Bán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323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– xuất 3 bước, nhiều mặt hàng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8686800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3"/>
          <p:cNvSpPr/>
          <p:nvPr/>
        </p:nvSpPr>
        <p:spPr>
          <a:xfrm>
            <a:off x="9134856" y="2167128"/>
            <a:ext cx="585216" cy="585216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5" descr="/home/claude/icons/user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231343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41664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41664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tài khoản (chỉ admin)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10296144" y="1965960"/>
            <a:ext cx="1481328" cy="1874520"/>
          </a:xfrm>
          <a:prstGeom prst="roundRect">
            <a:avLst>
              <a:gd name="adj" fmla="val 4938"/>
            </a:avLst>
          </a:prstGeom>
          <a:solidFill>
            <a:srgbClr val="EDF3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Shape 27"/>
          <p:cNvSpPr/>
          <p:nvPr/>
        </p:nvSpPr>
        <p:spPr>
          <a:xfrm>
            <a:off x="10744200" y="2167128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6" name="Image 6" descr="/home/claude/icons/user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0504" y="231343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51008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 Sơ Cá Nhân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51008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&amp; cập nhật thông tin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640080" y="4160520"/>
            <a:ext cx="10908792" cy="1828800"/>
          </a:xfrm>
          <a:prstGeom prst="roundRect">
            <a:avLst>
              <a:gd name="adj" fmla="val 4500"/>
            </a:avLst>
          </a:prstGeom>
          <a:solidFill>
            <a:srgbClr val="FDF1E0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0" name="Shape 31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1" name="Image 7" descr="/home/claude/icons/deskto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794" y="456651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69164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51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Trải nghiệm người dùng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1691640" y="480060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— tự thu gọn thành menu trên điện thoại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và hộp xác nhận thay cho popup trình duyệt gây giật cục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7A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số/tiền theo đúng chuẩn Việt Nam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Áp dụng theo khuyến nghị OWASP Top 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23031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67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SQL Injection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880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truy vấn dùng Prepared Statement (PDO), không nối chuỗi SQL trực tiếp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6583680" y="2167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743" y="230319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67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XSS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tự động escape dữ liệu đầu ra; validate input ở cả Frontend &amp; Backend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932688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51" y="458919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vệ phiên đăng nhập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5166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HttpOnly, SameSite=Lax; tự sinh lại Session ID sau khi đăng nhập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82C48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6583680" y="4453128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user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743" y="458919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4531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 toàn bộ API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83680" y="5166360"/>
            <a:ext cx="4672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endpoint yêu cầu đăng nhập trước khi xử lý — đã kiểm thử từng API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NHÓM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thành viên — 3 mảng phụ trách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924812" y="2057400"/>
            <a:ext cx="822960" cy="82296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</a:rPr>
              <a:t>Hận </a:t>
            </a:r>
            <a:r>
              <a:rPr lang="en-US" sz="1900" b="1" dirty="0" err="1">
                <a:solidFill>
                  <a:srgbClr val="16232E"/>
                </a:solidFill>
                <a:latin typeface="Cambria" pitchFamily="34" charset="0"/>
                <a:ea typeface="Cambria" pitchFamily="34" charset="-122"/>
              </a:rPr>
              <a:t>Điều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879092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triển khai 7 bảng CSDL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&amp; kiểm thử Trigger tồn kho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sửa lỗi toàn hệ thống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8264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5682996" y="2057400"/>
            <a:ext cx="822960" cy="822960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" name="Image 1" descr="/home/claude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2631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81144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Huy Nguyễn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637276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3"/>
          <p:cNvSpPr/>
          <p:nvPr/>
        </p:nvSpPr>
        <p:spPr>
          <a:xfrm>
            <a:off x="4718304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router &amp; middleware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toàn bộ API nghiệp vụ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Prepared Statement, bcrypt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56448" y="1737360"/>
            <a:ext cx="3392424" cy="4206240"/>
          </a:xfrm>
          <a:prstGeom prst="roundRect">
            <a:avLst>
              <a:gd name="adj" fmla="val 2426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9" name="Shape 15"/>
          <p:cNvSpPr/>
          <p:nvPr/>
        </p:nvSpPr>
        <p:spPr>
          <a:xfrm>
            <a:off x="9441180" y="205740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0" name="Image 2" descr="/home/claude/icons/reac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22631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9328" y="301752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39328" y="32918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</a:rPr>
              <a:t>Huân Vũ</a:t>
            </a:r>
          </a:p>
        </p:txBody>
      </p:sp>
      <p:sp>
        <p:nvSpPr>
          <p:cNvPr id="23" name="Shape 18"/>
          <p:cNvSpPr/>
          <p:nvPr/>
        </p:nvSpPr>
        <p:spPr>
          <a:xfrm>
            <a:off x="9395460" y="3822192"/>
            <a:ext cx="914400" cy="12802"/>
          </a:xfrm>
          <a:prstGeom prst="rect">
            <a:avLst/>
          </a:prstGeom>
          <a:solidFill>
            <a:srgbClr val="D3DEE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19"/>
          <p:cNvSpPr/>
          <p:nvPr/>
        </p:nvSpPr>
        <p:spPr>
          <a:xfrm>
            <a:off x="8476488" y="4069080"/>
            <a:ext cx="27523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 7 trang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người dùng, responsive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Dashboard &amp; biểu đồ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Tên hiển thị theo tài khoản GitHub đóng góp mã nguồn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hoạt động đầy đủ, đã kiểm thử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hoạt động thật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63347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↔ Database chạy thông suốt, kiểm thử nhiều vòng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73736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6565392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21477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 toàn diện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11112" y="263347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API xác thực, Prepared Statement, bcrypt, session an toàn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1"/>
          <p:cNvSpPr/>
          <p:nvPr/>
        </p:nvSpPr>
        <p:spPr>
          <a:xfrm>
            <a:off x="914400" y="411480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" name="Image 2" descr="/home/claude/icons/boxope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42508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Nghiệp vụ đầy đủ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60120" y="47365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trang, CRUD trọn vẹn, phiếu nhập/xuất nhiều mặt hàng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84048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3F0F1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5"/>
          <p:cNvSpPr/>
          <p:nvPr/>
        </p:nvSpPr>
        <p:spPr>
          <a:xfrm>
            <a:off x="6565392" y="411480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3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455" y="425086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096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chuẩn quy trình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11112" y="473659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commit, đủ 3 thành viên cùng đóng góp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HOÀN THIỆN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việc cuối trước khi nộp bài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2811780" y="21488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/home/claude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InfinityFree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hệ thống lên môi trường trực tuyến thật, có URL công khai để giảng viên truy cập trực tiếp.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91072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EDF3F6"/>
          </a:solidFill>
          <a:ln/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8462772" y="21488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" name="Image 1" descr="/home/claude/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372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3291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Hoàn thiện báo cáo kỹ thuật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02552" y="37947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ERD, đặc tả API, ảnh giao diện, kết quả kiểm thử thành báo cáo Word/PDF theo đúng cấu trúc yêu cầu.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82C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082C4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5641848" y="173736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/home/claude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19431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83464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và các bạn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lắng nghe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40690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&amp; Câu hỏi thảo luận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27448" y="4800600"/>
            <a:ext cx="2743200" cy="10973"/>
          </a:xfrm>
          <a:prstGeom prst="rect">
            <a:avLst/>
          </a:prstGeom>
          <a:solidFill>
            <a:srgbClr val="27506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371600" y="502920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github.com/Hieuu066/Phan_men_quan_ly_xuat_nhap_kho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630936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05  ·  CSE702051 — Thiết kế Web Nâng cao  ·  Trường CNTT, Đại học Phenikaa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1322</Words>
  <Application>Microsoft Office PowerPoint</Application>
  <PresentationFormat>Widescreen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 Dinh Hieu</cp:lastModifiedBy>
  <cp:revision>5</cp:revision>
  <dcterms:created xsi:type="dcterms:W3CDTF">2026-07-23T06:11:29Z</dcterms:created>
  <dcterms:modified xsi:type="dcterms:W3CDTF">2026-07-23T07:10:01Z</dcterms:modified>
</cp:coreProperties>
</file>